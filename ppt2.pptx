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0" r:id="rId11"/>
    <p:sldId id="271" r:id="rId12"/>
    <p:sldId id="265" r:id="rId13"/>
    <p:sldId id="275" r:id="rId14"/>
    <p:sldId id="276" r:id="rId15"/>
    <p:sldId id="277" r:id="rId16"/>
    <p:sldId id="278" r:id="rId17"/>
    <p:sldId id="279" r:id="rId18"/>
    <p:sldId id="280" r:id="rId19"/>
    <p:sldId id="273" r:id="rId20"/>
    <p:sldId id="274" r:id="rId21"/>
    <p:sldId id="268" r:id="rId22"/>
    <p:sldId id="266" r:id="rId23"/>
    <p:sldId id="267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CFAE5-ADF6-4A84-8EA5-0D21F6BA36C9}" type="datetimeFigureOut">
              <a:rPr lang="en-IN" smtClean="0"/>
              <a:t>16-05-2025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5D675-1F46-4B87-A5F8-67DB0C31E2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622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7CE75-2696-426B-A7C6-7629D8CF2437}" type="datetime1">
              <a:rPr lang="en-IN" smtClean="0"/>
              <a:t>16-05-2025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972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>
            <a:lvl1pPr>
              <a:defRPr sz="4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>
            <a:normAutofit/>
          </a:bodyPr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8F0E0-2234-4197-A558-6EA21AC7A0A0}" type="datetime1">
              <a:rPr lang="en-IN" smtClean="0"/>
              <a:t>16-05-2025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 userDrawn="1"/>
        </p:nvSpPr>
        <p:spPr bwMode="auto">
          <a:xfrm rot="10800000" flipV="1">
            <a:off x="10587856" y="6247184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22029" y="6338155"/>
            <a:ext cx="779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75ECA5-96F4-415B-9B7B-F5BEE4B08E09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4E0AF9-0CD7-865F-F584-E7F93A8852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10" y="0"/>
            <a:ext cx="1457325" cy="12430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42BC9D-E099-1948-3435-FFC2468E3B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3395" y="-394223"/>
            <a:ext cx="1017037" cy="180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86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3316-F1D2-4CFB-B3A8-36FF84D60DC1}" type="datetime1">
              <a:rPr lang="en-IN" smtClean="0"/>
              <a:t>16-05-2025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41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DD2DD-462B-4CBA-AA0A-8301F8EE9842}" type="datetime1">
              <a:rPr lang="en-IN" smtClean="0"/>
              <a:t>16-05-2025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02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F0FB0-DEC5-44F8-B224-7DEA76B58BCE}" type="datetime1">
              <a:rPr lang="en-IN" smtClean="0"/>
              <a:t>16-05-2025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132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151C4-12AA-486A-8A73-FD7CDFC9A495}" type="datetime1">
              <a:rPr lang="en-IN" smtClean="0"/>
              <a:t>16-05-2025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892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A1EF-1C77-4320-9664-16BFC03E4F4D}" type="datetime1">
              <a:rPr lang="en-IN" smtClean="0"/>
              <a:t>16-05-2025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484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BE58-E9FD-47D2-91AC-7CE0251A25B2}" type="datetime1">
              <a:rPr lang="en-IN" smtClean="0"/>
              <a:t>16-05-2025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76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71803-78DB-4882-8A70-E311DA0EF9FC}" type="datetime1">
              <a:rPr lang="en-IN" smtClean="0"/>
              <a:t>16-05-2025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96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228FF-BE53-47F7-B430-409A097CA437}" type="datetime1">
              <a:rPr lang="en-IN" smtClean="0"/>
              <a:t>16-05-2025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775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65DF8-C87B-4AA2-B81E-F9B41C3DE973}" type="datetime1">
              <a:rPr lang="en-IN" smtClean="0"/>
              <a:t>16-05-2025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44965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1343-E99C-4C22-AAE8-C343A811CECF}" type="datetime1">
              <a:rPr lang="en-IN" smtClean="0"/>
              <a:t>16-05-2025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2787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CDC9B-DBC7-4258-BEB9-733492353AF9}" type="datetime1">
              <a:rPr lang="en-IN" smtClean="0"/>
              <a:t>16-05-2025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15122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C6488-E703-4AFF-AB60-B11F0E50C7BC}" type="datetime1">
              <a:rPr lang="en-IN" smtClean="0"/>
              <a:t>16-05-2025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11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63479-18BA-4E37-9716-A08D210E9EC7}" type="datetime1">
              <a:rPr lang="en-IN" smtClean="0"/>
              <a:t>16-05-2025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254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F7E75-1528-41FC-88CA-CFEB217670A5}" type="datetime1">
              <a:rPr lang="en-IN" smtClean="0"/>
              <a:t>16-05-2025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554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58841-AB6D-42AC-A9E1-E0D97A1068DD}" type="datetime1">
              <a:rPr lang="en-IN" smtClean="0"/>
              <a:t>16-05-2025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F193EE77-AAE2-43CD-9ABE-9DB80FB4FF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605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94E13-AF13-FE84-B59A-88C7FF0DD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9450" y="1984816"/>
            <a:ext cx="8915399" cy="2511551"/>
          </a:xfrm>
        </p:spPr>
        <p:txBody>
          <a:bodyPr>
            <a:normAutofit fontScale="90000"/>
          </a:bodyPr>
          <a:lstStyle/>
          <a:p>
            <a:pPr algn="ctr"/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b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b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IT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B09E56-A5E9-0BDC-98BD-DDD921DCD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5453" y="3747052"/>
            <a:ext cx="9079464" cy="3031435"/>
          </a:xfrm>
        </p:spPr>
        <p:txBody>
          <a:bodyPr>
            <a:normAutofit fontScale="92500" lnSpcReduction="20000"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Shahida Khan									        Kratika Jain (0827IT221079)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        Pratham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Bothra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(0827IT221112)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        Saloni Jain(0827IT221128)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        Urvashi Yadav(0827IT221147)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BC312B-2F58-B7DE-00D2-0142F8801F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059" y="-354166"/>
            <a:ext cx="1175716" cy="2090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5F9EF6-DBB5-9291-78C0-1BD5FCF2CF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75" y="0"/>
            <a:ext cx="1620078" cy="1381831"/>
          </a:xfrm>
          <a:prstGeom prst="rect">
            <a:avLst/>
          </a:prstGeom>
        </p:spPr>
      </p:pic>
      <p:pic>
        <p:nvPicPr>
          <p:cNvPr id="5" name="Picture 4" descr="A green check mark in a blue square&#10;&#10;AI-generated content may be incorrect.">
            <a:extLst>
              <a:ext uri="{FF2B5EF4-FFF2-40B4-BE49-F238E27FC236}">
                <a16:creationId xmlns:a16="http://schemas.microsoft.com/office/drawing/2014/main" id="{219E9CA8-2CE3-E5D6-FD4A-D0BEDCCCB3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6107" y="2083885"/>
            <a:ext cx="1042084" cy="94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27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8BD3-82F3-F887-7675-7696E56FA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475750"/>
            <a:ext cx="8911687" cy="1280890"/>
          </a:xfrm>
        </p:spPr>
        <p:txBody>
          <a:bodyPr/>
          <a:lstStyle/>
          <a:p>
            <a:r>
              <a:rPr lang="en-IN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DD591-8615-A08A-67F8-943007048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152938"/>
            <a:ext cx="8915400" cy="5466523"/>
          </a:xfrm>
        </p:spPr>
        <p:txBody>
          <a:bodyPr>
            <a:normAutofit fontScale="6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Introduction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1.1</a:t>
            </a:r>
            <a:r>
              <a:rPr lang="en-IN" dirty="0"/>
              <a:t> Overview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1.2</a:t>
            </a:r>
            <a:r>
              <a:rPr lang="en-IN" dirty="0"/>
              <a:t> Purpose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Requirement Engineering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2.1</a:t>
            </a:r>
            <a:r>
              <a:rPr lang="en-IN" dirty="0"/>
              <a:t> Requirement Collection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2.2</a:t>
            </a:r>
            <a:r>
              <a:rPr lang="en-IN" dirty="0"/>
              <a:t> Functional Requirements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2.3</a:t>
            </a:r>
            <a:r>
              <a:rPr lang="en-IN" dirty="0"/>
              <a:t> Non Functional Requirements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2.4</a:t>
            </a:r>
            <a:r>
              <a:rPr lang="en-IN" dirty="0"/>
              <a:t> Use Case Diagram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Technical Design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3.1</a:t>
            </a:r>
            <a:r>
              <a:rPr lang="en-IN" dirty="0"/>
              <a:t> Technical Architecture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3.2</a:t>
            </a:r>
            <a:r>
              <a:rPr lang="en-IN" dirty="0"/>
              <a:t> Sequence Diagram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3.3</a:t>
            </a:r>
            <a:r>
              <a:rPr lang="en-IN" dirty="0"/>
              <a:t> Class Diagram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3.4</a:t>
            </a:r>
            <a:r>
              <a:rPr lang="en-IN" dirty="0"/>
              <a:t> DFD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User Interface Design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Data Design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5.1</a:t>
            </a:r>
            <a:r>
              <a:rPr lang="en-IN" dirty="0"/>
              <a:t> Schema Design</a:t>
            </a:r>
          </a:p>
          <a:p>
            <a:pPr marL="400050" lvl="1" indent="0">
              <a:buNone/>
            </a:pPr>
            <a:r>
              <a:rPr lang="en-IN" dirty="0">
                <a:solidFill>
                  <a:srgbClr val="C00000"/>
                </a:solidFill>
              </a:rPr>
              <a:t>5.2</a:t>
            </a:r>
            <a:r>
              <a:rPr lang="en-IN" dirty="0"/>
              <a:t> E-R Diagram</a:t>
            </a:r>
          </a:p>
          <a:p>
            <a:pPr marL="0" indent="0">
              <a:buNone/>
            </a:pPr>
            <a:r>
              <a:rPr lang="en-IN" dirty="0"/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21891-9C7A-E4D4-07BD-AF0CB8124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8645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0342" y="382249"/>
            <a:ext cx="8911687" cy="1280890"/>
          </a:xfrm>
        </p:spPr>
        <p:txBody>
          <a:bodyPr/>
          <a:lstStyle/>
          <a:p>
            <a:r>
              <a:rPr lang="en-IN" dirty="0"/>
              <a:t>1.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7593" y="1164158"/>
            <a:ext cx="8911688" cy="503945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7200" b="1" dirty="0">
                <a:solidFill>
                  <a:schemeClr val="tx1"/>
                </a:solidFill>
              </a:rPr>
              <a:t>1.1 Overview</a:t>
            </a:r>
          </a:p>
          <a:p>
            <a:r>
              <a:rPr lang="en-US" sz="6400" b="1" dirty="0">
                <a:solidFill>
                  <a:schemeClr val="tx1"/>
                </a:solidFill>
              </a:rPr>
              <a:t>Automated Attendance Tracking:</a:t>
            </a:r>
            <a:br>
              <a:rPr lang="en-US" sz="6400" dirty="0">
                <a:solidFill>
                  <a:schemeClr val="tx1"/>
                </a:solidFill>
              </a:rPr>
            </a:br>
            <a:r>
              <a:rPr lang="en-US" sz="6400" dirty="0">
                <a:solidFill>
                  <a:schemeClr val="tx1"/>
                </a:solidFill>
              </a:rPr>
              <a:t>Integrates Google Forms API to collect and store attendance data in a centralized database, replacing manual methods and ensuring accuracy and efficiency.</a:t>
            </a:r>
          </a:p>
          <a:p>
            <a:r>
              <a:rPr kumimoji="0" lang="en-US" altLang="en-US" sz="6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Faculty &amp; Student Management:</a:t>
            </a:r>
            <a:b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6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Faculty can manage subjects, schedules, and attendance records, while students receive real-time notifications about their attendance status.</a:t>
            </a:r>
          </a:p>
          <a:p>
            <a:r>
              <a:rPr lang="en-US" sz="6400" b="1" dirty="0">
                <a:solidFill>
                  <a:schemeClr val="tx1"/>
                </a:solidFill>
              </a:rPr>
              <a:t>Task Management &amp; Reminders:</a:t>
            </a:r>
            <a:br>
              <a:rPr lang="en-US" sz="6400" dirty="0">
                <a:solidFill>
                  <a:schemeClr val="tx1"/>
                </a:solidFill>
              </a:rPr>
            </a:br>
            <a:r>
              <a:rPr lang="en-US" sz="6400" dirty="0">
                <a:solidFill>
                  <a:schemeClr val="tx1"/>
                </a:solidFill>
              </a:rPr>
              <a:t>Includes a to-do list and reminder module for students and faculty, with admins able to assign and monitor task completion for better coordination.</a:t>
            </a:r>
          </a:p>
          <a:p>
            <a:r>
              <a:rPr lang="en-US" sz="6400" b="1" dirty="0">
                <a:solidFill>
                  <a:schemeClr val="tx1"/>
                </a:solidFill>
              </a:rPr>
              <a:t>Resource Sharing &amp; Announcements:</a:t>
            </a:r>
            <a:br>
              <a:rPr lang="en-US" sz="6400" dirty="0">
                <a:solidFill>
                  <a:schemeClr val="tx1"/>
                </a:solidFill>
              </a:rPr>
            </a:br>
            <a:r>
              <a:rPr lang="en-US" sz="6400" dirty="0">
                <a:solidFill>
                  <a:schemeClr val="tx1"/>
                </a:solidFill>
              </a:rPr>
              <a:t>Faculty can upload study materials and post class-related notices, enhancing communication and access to academic resources.</a:t>
            </a:r>
            <a:endParaRPr lang="en-IN" sz="6400" dirty="0"/>
          </a:p>
          <a:p>
            <a:pPr marL="0" indent="0">
              <a:buNone/>
            </a:pPr>
            <a:r>
              <a:rPr lang="en-US" sz="72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1.2 Purpose</a:t>
            </a:r>
          </a:p>
          <a:p>
            <a:r>
              <a:rPr lang="en-US" sz="6400" b="1" dirty="0">
                <a:solidFill>
                  <a:schemeClr val="tx1"/>
                </a:solidFill>
              </a:rPr>
              <a:t>To automate and simplify the attendance tracking process</a:t>
            </a:r>
            <a:r>
              <a:rPr lang="en-US" sz="6400" dirty="0">
                <a:solidFill>
                  <a:schemeClr val="tx1"/>
                </a:solidFill>
              </a:rPr>
              <a:t>, eliminating manual errors and saving time for faculty and students.</a:t>
            </a:r>
          </a:p>
          <a:p>
            <a:r>
              <a:rPr lang="en-US" sz="6400" b="1" dirty="0">
                <a:solidFill>
                  <a:schemeClr val="tx1"/>
                </a:solidFill>
              </a:rPr>
              <a:t>To centralize student academic records</a:t>
            </a:r>
            <a:r>
              <a:rPr lang="en-US" sz="6400" dirty="0">
                <a:solidFill>
                  <a:schemeClr val="tx1"/>
                </a:solidFill>
              </a:rPr>
              <a:t> for easy access, monitoring, and analysis by authorized users.</a:t>
            </a:r>
          </a:p>
          <a:p>
            <a:r>
              <a:rPr lang="en-US" sz="6400" b="1" dirty="0">
                <a:solidFill>
                  <a:schemeClr val="tx1"/>
                </a:solidFill>
              </a:rPr>
              <a:t>To improve communication and coordination</a:t>
            </a:r>
            <a:r>
              <a:rPr lang="en-US" sz="6400" dirty="0">
                <a:solidFill>
                  <a:schemeClr val="tx1"/>
                </a:solidFill>
              </a:rPr>
              <a:t> through features like notifications, reminders, and academic announcements.</a:t>
            </a:r>
          </a:p>
          <a:p>
            <a:r>
              <a:rPr lang="en-US" sz="6400" b="1" dirty="0">
                <a:solidFill>
                  <a:schemeClr val="tx1"/>
                </a:solidFill>
              </a:rPr>
              <a:t>To enhance productivity and organization</a:t>
            </a:r>
            <a:r>
              <a:rPr lang="en-US" sz="6400" dirty="0">
                <a:solidFill>
                  <a:schemeClr val="tx1"/>
                </a:solidFill>
              </a:rPr>
              <a:t> with task management tools and resource-sharing capabilities</a:t>
            </a:r>
            <a:r>
              <a:rPr lang="en-US" sz="6400" dirty="0"/>
              <a:t>.</a:t>
            </a:r>
            <a:endParaRPr lang="en-IN" sz="6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8A3BA53B-B361-DA1A-D276-09001EC66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184" y="1755272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755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782" y="308424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IN" dirty="0"/>
              <a:t>2. Requirement Engineering</a:t>
            </a:r>
            <a:br>
              <a:rPr lang="en-IN" dirty="0"/>
            </a:br>
            <a:r>
              <a:rPr lang="en-IN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1411" y="1435184"/>
            <a:ext cx="8915400" cy="436327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3000" dirty="0"/>
              <a:t>2.1 Requirement Collection</a:t>
            </a:r>
            <a:endParaRPr lang="en-US" sz="3000" b="1" dirty="0"/>
          </a:p>
          <a:p>
            <a:pPr>
              <a:buFont typeface="+mj-lt"/>
              <a:buAutoNum type="arabicPeriod"/>
            </a:pPr>
            <a:r>
              <a:rPr lang="en-US" b="1" dirty="0"/>
              <a:t>Interviews &amp; Discussions: </a:t>
            </a:r>
            <a:r>
              <a:rPr lang="en-US" dirty="0"/>
              <a:t>Conducted one-on-one and group discussions with faculty members and students to understand their challenges with the current attendance and academic management systems.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Surveys &amp; Questionnaires: </a:t>
            </a:r>
            <a:r>
              <a:rPr lang="en-US" dirty="0"/>
              <a:t>Distributed Google Forms to collect feedback on user needs, expectations, and preferred features for attendance tracking, task management, and communication tools.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Observation: </a:t>
            </a:r>
            <a:r>
              <a:rPr lang="en-US" dirty="0"/>
              <a:t>Observed the traditional attendance process (paper registers and Excel sheets) to identify inefficiencies and pain points in real-time classroom settings.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Document Analysis: </a:t>
            </a:r>
            <a:r>
              <a:rPr lang="en-US" dirty="0"/>
              <a:t>Reviewed existing academic processes, institutional guidelines, and attendance policies to align the system with official requirements.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561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4468" y="379212"/>
            <a:ext cx="8911687" cy="1280890"/>
          </a:xfrm>
        </p:spPr>
        <p:txBody>
          <a:bodyPr/>
          <a:lstStyle/>
          <a:p>
            <a:r>
              <a:rPr lang="en-IN" dirty="0"/>
              <a:t>2.2 Function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75065"/>
            <a:ext cx="8915400" cy="43632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tx1"/>
                </a:solidFill>
              </a:rPr>
              <a:t>1)User Login &amp; Role Management</a:t>
            </a:r>
            <a:endParaRPr lang="en-US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Role-based access for Admin, Faculty, and Students.</a:t>
            </a:r>
          </a:p>
          <a:p>
            <a:pPr>
              <a:buNone/>
            </a:pPr>
            <a:r>
              <a:rPr lang="en-US" sz="1600" b="1" dirty="0">
                <a:solidFill>
                  <a:schemeClr val="tx1"/>
                </a:solidFill>
              </a:rPr>
              <a:t>2)Attendance Management</a:t>
            </a:r>
            <a:endParaRPr lang="en-US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Collect attendance via Google Forms.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Real-time attendance tracking and report generation.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Low attendance alerts to students.</a:t>
            </a:r>
          </a:p>
          <a:p>
            <a:pPr>
              <a:buNone/>
            </a:pPr>
            <a:r>
              <a:rPr lang="en-US" sz="1600" b="1" dirty="0">
                <a:solidFill>
                  <a:schemeClr val="tx1"/>
                </a:solidFill>
              </a:rPr>
              <a:t>3)Task &amp; Reminder Module</a:t>
            </a:r>
            <a:endParaRPr lang="en-US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To-do lists and custom reminders for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Task assignment and progress tracking by Admin.</a:t>
            </a:r>
          </a:p>
          <a:p>
            <a:pPr>
              <a:buNone/>
            </a:pPr>
            <a:r>
              <a:rPr lang="en-US" sz="1600" b="1" dirty="0">
                <a:solidFill>
                  <a:schemeClr val="tx1"/>
                </a:solidFill>
              </a:rPr>
              <a:t>4)Notification System</a:t>
            </a:r>
            <a:endParaRPr lang="en-US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Automated alerts for lectures, tasks, and attendance.</a:t>
            </a:r>
          </a:p>
          <a:p>
            <a:pPr>
              <a:buNone/>
            </a:pPr>
            <a:r>
              <a:rPr lang="en-US" sz="1600" b="1" dirty="0">
                <a:solidFill>
                  <a:schemeClr val="tx1"/>
                </a:solidFill>
              </a:rPr>
              <a:t>5)Notes &amp; Announcement Sharing</a:t>
            </a:r>
            <a:endParaRPr lang="en-US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Faculty can upload study materials and post academic notices.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IN" sz="1600" dirty="0"/>
          </a:p>
          <a:p>
            <a:endParaRPr lang="en-IN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595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868" y="359066"/>
            <a:ext cx="8911687" cy="1280890"/>
          </a:xfrm>
        </p:spPr>
        <p:txBody>
          <a:bodyPr/>
          <a:lstStyle/>
          <a:p>
            <a:r>
              <a:rPr lang="en-IN" dirty="0"/>
              <a:t>2.2 Non-Functional Requirements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1" y="1639956"/>
            <a:ext cx="9028165" cy="4593933"/>
          </a:xfrm>
        </p:spPr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Performance</a:t>
            </a:r>
            <a:r>
              <a:rPr lang="en-US" dirty="0"/>
              <a:t> – Real-time data access; quick report generation.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Security</a:t>
            </a:r>
            <a:r>
              <a:rPr lang="en-US" dirty="0"/>
              <a:t> – Role-based access control; secure data handling.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Availability</a:t>
            </a:r>
            <a:r>
              <a:rPr lang="en-US" dirty="0"/>
              <a:t> – System available 99% during working hours; timely email alerts.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Usability</a:t>
            </a:r>
            <a:r>
              <a:rPr lang="en-US" dirty="0"/>
              <a:t> – Easy-to-use, responsive UI for all users.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Maintainability</a:t>
            </a:r>
            <a:r>
              <a:rPr lang="en-US" dirty="0"/>
              <a:t> – Modular code and proper documentation.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Portability</a:t>
            </a:r>
            <a:r>
              <a:rPr lang="en-US" dirty="0"/>
              <a:t> – Runs on all major browsers and server platforms.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Scalability</a:t>
            </a:r>
            <a:r>
              <a:rPr lang="en-US" dirty="0"/>
              <a:t> – Supports many users and expandable to more departments.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Integration</a:t>
            </a:r>
            <a:r>
              <a:rPr lang="en-US" dirty="0"/>
              <a:t> – Works with Google Forms/Sheets and </a:t>
            </a:r>
            <a:r>
              <a:rPr lang="en-US" dirty="0" err="1"/>
              <a:t>JavaMail</a:t>
            </a:r>
            <a:r>
              <a:rPr lang="en-US" dirty="0"/>
              <a:t> API.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  <a:p>
            <a:pPr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1023D3B2-59AE-69AE-7330-B17E90262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61665"/>
            <a:ext cx="32573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163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868" y="422065"/>
            <a:ext cx="8911687" cy="1280890"/>
          </a:xfrm>
        </p:spPr>
        <p:txBody>
          <a:bodyPr/>
          <a:lstStyle/>
          <a:p>
            <a:r>
              <a:rPr lang="en-IN" dirty="0"/>
              <a:t>2.3 Use Case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7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94CBDC-3F03-FC5C-8F06-8144380B35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4122" y="1279871"/>
            <a:ext cx="4253942" cy="530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974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8469" y="214320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IN" dirty="0"/>
              <a:t>3. Technical Design</a:t>
            </a:r>
            <a:br>
              <a:rPr lang="en-IN" dirty="0"/>
            </a:br>
            <a:r>
              <a:rPr lang="en-IN" dirty="0"/>
              <a:t>	</a:t>
            </a:r>
            <a:r>
              <a:rPr lang="en-IN" dirty="0">
                <a:solidFill>
                  <a:schemeClr val="tx1"/>
                </a:solidFill>
              </a:rPr>
              <a:t>3.1</a:t>
            </a:r>
            <a:r>
              <a:rPr lang="en-IN" dirty="0"/>
              <a:t> Technical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IN" dirty="0"/>
              <a:t>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8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456C19-4EE6-782A-40A7-8D3E990E7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5924" y="1734451"/>
            <a:ext cx="4103913" cy="5123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225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E8171-3C93-3951-64B3-73BCBD9C6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99705-08D0-11A7-6890-F6B46FB1D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096" y="341081"/>
            <a:ext cx="8911687" cy="128089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3.2</a:t>
            </a:r>
            <a:r>
              <a:rPr lang="en-IN" dirty="0"/>
              <a:t> Sequence Diagram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87AE3B9-C67A-7F3B-6DF5-1E9D7EA2C0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992" y="1445890"/>
            <a:ext cx="3851002" cy="535137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A5758-5323-C7B4-8A6F-91E3A4C34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9227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B5D6A-F7D1-6412-26B3-02B46141F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5C94F-6893-A33B-F5CF-63D0B67E2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1925" y="362853"/>
            <a:ext cx="8911687" cy="128089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3.3</a:t>
            </a:r>
            <a:r>
              <a:rPr lang="en-IN" dirty="0"/>
              <a:t> Class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55AB3-9666-3FFB-D6B6-F32094E99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10</a:t>
            </a:fld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8AF3E0B-529F-3800-7E45-C4E7FD57DC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73"/>
          <a:stretch/>
        </p:blipFill>
        <p:spPr>
          <a:xfrm>
            <a:off x="3410549" y="1392702"/>
            <a:ext cx="4608036" cy="4690736"/>
          </a:xfrm>
        </p:spPr>
      </p:pic>
    </p:spTree>
    <p:extLst>
      <p:ext uri="{BB962C8B-B14F-4D97-AF65-F5344CB8AC3E}">
        <p14:creationId xmlns:p14="http://schemas.microsoft.com/office/powerpoint/2010/main" val="1890128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850E2-726A-D8A0-14A3-FA115C9A8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2000C-B2B2-2070-C829-0ECA1055B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4840" y="318562"/>
            <a:ext cx="8911687" cy="1280890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3.4</a:t>
            </a:r>
            <a:r>
              <a:rPr lang="en-IN" dirty="0"/>
              <a:t> DFD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4EE11D8-28D8-2F9E-ED22-F7426E6BDE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584" y="959007"/>
            <a:ext cx="7794197" cy="546462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78091-2D23-B207-FD6C-0B5E9DC29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4780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1553" y="359067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IN" dirty="0"/>
              <a:t>4. User Interface Design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12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B5A726-5B99-2F8D-35C8-931DA845E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98"/>
          <a:stretch/>
        </p:blipFill>
        <p:spPr>
          <a:xfrm>
            <a:off x="2416629" y="1262743"/>
            <a:ext cx="8196942" cy="507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340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ABC61-D9AC-FE97-31FB-ED1A40FCD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13</a:t>
            </a:fld>
            <a:endParaRPr lang="en-IN" dirty="0"/>
          </a:p>
        </p:txBody>
      </p:sp>
      <p:pic>
        <p:nvPicPr>
          <p:cNvPr id="20" name="Picture 19" descr="A screenshot of a check it page&#10;&#10;AI-generated content may be incorrect.">
            <a:extLst>
              <a:ext uri="{FF2B5EF4-FFF2-40B4-BE49-F238E27FC236}">
                <a16:creationId xmlns:a16="http://schemas.microsoft.com/office/drawing/2014/main" id="{99E118CF-6106-9E1D-106C-B38E68467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883" y="857516"/>
            <a:ext cx="9495488" cy="514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37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login page&#10;&#10;AI-generated content may be incorrect.">
            <a:extLst>
              <a:ext uri="{FF2B5EF4-FFF2-40B4-BE49-F238E27FC236}">
                <a16:creationId xmlns:a16="http://schemas.microsoft.com/office/drawing/2014/main" id="{1C001789-937E-F71A-2AA7-4901649FD9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655"/>
          <a:stretch/>
        </p:blipFill>
        <p:spPr>
          <a:xfrm>
            <a:off x="3238318" y="663575"/>
            <a:ext cx="6145167" cy="553085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605A7-93A5-CE98-0AC4-A5B6CF907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4477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F7733-4473-66EE-EF91-BC401D931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15</a:t>
            </a:fld>
            <a:endParaRPr lang="en-IN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D4A2D5-BCB2-6F6C-ACB2-27E44A8D0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029" y="1055914"/>
            <a:ext cx="8621486" cy="507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223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35BC6B-643A-4793-F35A-E418843400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722" y="1121230"/>
            <a:ext cx="10164004" cy="500833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B7C03-07B1-CA23-A2ED-D854957D1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0492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5A49D9-BD4C-1E71-DC25-A87EA71630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014" y="1175657"/>
            <a:ext cx="10218455" cy="497477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4ED83-6EF3-838D-877B-D2B233F4F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7247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81604F-5179-A446-16C0-A60DF9EDB6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331" y="990601"/>
            <a:ext cx="9362960" cy="543197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562E8-6A88-21DE-A11B-9E8D4E6C8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77262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22852-63C4-7A34-B212-654773ED4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6C5C4-78A9-C6ED-6882-CC0E8210A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4211" y="199567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IN" dirty="0"/>
              <a:t>4. Data Design</a:t>
            </a:r>
            <a:br>
              <a:rPr lang="en-IN" dirty="0"/>
            </a:br>
            <a:r>
              <a:rPr lang="en-IN" dirty="0"/>
              <a:t>	4.1 Schema Definition</a:t>
            </a:r>
            <a:br>
              <a:rPr lang="en-IN" dirty="0"/>
            </a:b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4102E10-7EC9-94FB-DFFE-FE714D784B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4377" y="1939559"/>
            <a:ext cx="6546055" cy="436403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6B82A-42E5-0552-2F10-B51BDFAC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4156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7C023-2964-6149-6EB0-77AE30C21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7E875-0BD5-0960-C462-C44DE8ABD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1039" y="351967"/>
            <a:ext cx="8911687" cy="1280890"/>
          </a:xfrm>
        </p:spPr>
        <p:txBody>
          <a:bodyPr>
            <a:normAutofit fontScale="90000"/>
          </a:bodyPr>
          <a:lstStyle/>
          <a:p>
            <a:r>
              <a:rPr lang="en-IN" dirty="0"/>
              <a:t>4.2 E-R Diagram</a:t>
            </a:r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B9194-0758-86E1-5DFC-F8CCA77CD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20</a:t>
            </a:fld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7618AAF-AFA5-E095-9731-DE79607466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746" y="1190764"/>
            <a:ext cx="6720444" cy="5315269"/>
          </a:xfrm>
        </p:spPr>
      </p:pic>
    </p:spTree>
    <p:extLst>
      <p:ext uri="{BB962C8B-B14F-4D97-AF65-F5344CB8AC3E}">
        <p14:creationId xmlns:p14="http://schemas.microsoft.com/office/powerpoint/2010/main" val="2946381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https://github.com/Saloni-Jain25/</a:t>
            </a:r>
            <a:r>
              <a:rPr lang="en-IN" dirty="0"/>
              <a:t>checkit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836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1DBF2-8E9B-B5CB-CD3B-77256299D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9A8C4-4EBE-CD01-32B2-BE69FCAB2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639957"/>
            <a:ext cx="8915400" cy="436327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b="1" dirty="0"/>
              <a:t>Sonawane, R. K., &amp; Singh, A. T. (2023).</a:t>
            </a:r>
            <a:r>
              <a:rPr lang="en-US" sz="2400" dirty="0"/>
              <a:t> </a:t>
            </a:r>
            <a:r>
              <a:rPr lang="en-US" sz="2400" i="1" dirty="0"/>
              <a:t>Importance and Impact of Attendance Management System: A Literature Review.</a:t>
            </a:r>
            <a:r>
              <a:rPr lang="en-US" sz="2400" dirty="0"/>
              <a:t> International Journal of Advanced Research in Science, Communication and Technology, 3(5), 328.</a:t>
            </a:r>
          </a:p>
          <a:p>
            <a:pPr algn="just"/>
            <a:r>
              <a:rPr lang="en-US" sz="2400" b="1" dirty="0"/>
              <a:t>Ali, N. S., </a:t>
            </a:r>
            <a:r>
              <a:rPr lang="en-US" sz="2400" b="1" dirty="0" err="1"/>
              <a:t>Alhilali</a:t>
            </a:r>
            <a:r>
              <a:rPr lang="en-US" sz="2400" b="1" dirty="0"/>
              <a:t>, A. H., </a:t>
            </a:r>
            <a:r>
              <a:rPr lang="en-US" sz="2400" b="1" dirty="0" err="1"/>
              <a:t>Rjeib</a:t>
            </a:r>
            <a:r>
              <a:rPr lang="en-US" sz="2400" b="1" dirty="0"/>
              <a:t>, H. D., </a:t>
            </a:r>
            <a:r>
              <a:rPr lang="en-US" sz="2400" b="1" dirty="0" err="1"/>
              <a:t>Alsharqi</a:t>
            </a:r>
            <a:r>
              <a:rPr lang="en-US" sz="2400" b="1" dirty="0"/>
              <a:t>, H., &amp; Al-</a:t>
            </a:r>
            <a:r>
              <a:rPr lang="en-US" sz="2400" b="1" dirty="0" err="1"/>
              <a:t>Sadawi</a:t>
            </a:r>
            <a:r>
              <a:rPr lang="en-US" sz="2400" b="1" dirty="0"/>
              <a:t>, B. (2022).</a:t>
            </a:r>
            <a:r>
              <a:rPr lang="en-US" sz="2400" dirty="0"/>
              <a:t> </a:t>
            </a:r>
            <a:r>
              <a:rPr lang="en-US" sz="2400" i="1" dirty="0"/>
              <a:t>Automated Attendance Management Systems: Systematic Literature Review.</a:t>
            </a:r>
            <a:r>
              <a:rPr lang="en-US" sz="2400" dirty="0"/>
              <a:t> International Journal of Technology Enhanced Learning, 14(1), 37–65. </a:t>
            </a:r>
          </a:p>
          <a:p>
            <a:pPr algn="just"/>
            <a:r>
              <a:rPr lang="en-US" sz="2400" b="1" dirty="0"/>
              <a:t>Soundarya, S., Ashwini, P., Rucha, W., Gaurav, K., &amp; Patil, M. S.</a:t>
            </a:r>
            <a:r>
              <a:rPr lang="en-US" sz="2400" dirty="0"/>
              <a:t> </a:t>
            </a:r>
            <a:r>
              <a:rPr lang="en-US" sz="2400" i="1" dirty="0"/>
              <a:t>A Review Paper on Attendance Management System Using Face Recognition.</a:t>
            </a:r>
            <a:r>
              <a:rPr lang="en-US" sz="2400" dirty="0"/>
              <a:t> International Journal of Computer Research Trends.</a:t>
            </a:r>
            <a:endParaRPr lang="en-IN" sz="2400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5DD90-3A03-1E63-4AD6-B6D952484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9703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C9646-E93C-1967-B61B-316EFA057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75ECA5-96F4-415B-9B7B-F5BEE4B08E09}" type="slidenum">
              <a:rPr lang="en-IN" smtClean="0"/>
              <a:pPr/>
              <a:t>23</a:t>
            </a:fld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DA9428-B45B-20BA-B9BF-9EC990C7F486}"/>
              </a:ext>
            </a:extLst>
          </p:cNvPr>
          <p:cNvSpPr/>
          <p:nvPr/>
        </p:nvSpPr>
        <p:spPr>
          <a:xfrm>
            <a:off x="4567761" y="2595265"/>
            <a:ext cx="364715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405D59-04E2-F173-8396-FFBCDFE0262A}"/>
              </a:ext>
            </a:extLst>
          </p:cNvPr>
          <p:cNvSpPr/>
          <p:nvPr/>
        </p:nvSpPr>
        <p:spPr>
          <a:xfrm>
            <a:off x="5223807" y="3518595"/>
            <a:ext cx="28200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Queries ?</a:t>
            </a:r>
          </a:p>
        </p:txBody>
      </p:sp>
    </p:spTree>
    <p:extLst>
      <p:ext uri="{BB962C8B-B14F-4D97-AF65-F5344CB8AC3E}">
        <p14:creationId xmlns:p14="http://schemas.microsoft.com/office/powerpoint/2010/main" val="317134107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662</TotalTime>
  <Words>856</Words>
  <Application>Microsoft Office PowerPoint</Application>
  <PresentationFormat>Widescreen</PresentationFormat>
  <Paragraphs>117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Century Gothic</vt:lpstr>
      <vt:lpstr>Times New Roman</vt:lpstr>
      <vt:lpstr>Wingdings 3</vt:lpstr>
      <vt:lpstr>Wisp</vt:lpstr>
      <vt:lpstr>          Presentation on    Check IT </vt:lpstr>
      <vt:lpstr>Contents</vt:lpstr>
      <vt:lpstr>1. Introduction</vt:lpstr>
      <vt:lpstr>2. Requirement Engineering  </vt:lpstr>
      <vt:lpstr>2.2 Function Requirements</vt:lpstr>
      <vt:lpstr>2.2 Non-Functional Requirements </vt:lpstr>
      <vt:lpstr>2.3 Use Case Diagram</vt:lpstr>
      <vt:lpstr>3. Technical Design  3.1 Technical Architecture</vt:lpstr>
      <vt:lpstr>3.2 Sequence Diagram</vt:lpstr>
      <vt:lpstr>3.3 Class Diagram</vt:lpstr>
      <vt:lpstr>3.4 DFD</vt:lpstr>
      <vt:lpstr>4. User Interface Design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 Data Design  4.1 Schema Definition </vt:lpstr>
      <vt:lpstr>4.2 E-R Diagram </vt:lpstr>
      <vt:lpstr>GitHub Link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Deepak Singh Chouhan</dc:creator>
  <cp:lastModifiedBy>Saloni Jain</cp:lastModifiedBy>
  <cp:revision>19</cp:revision>
  <dcterms:created xsi:type="dcterms:W3CDTF">2024-09-26T07:25:32Z</dcterms:created>
  <dcterms:modified xsi:type="dcterms:W3CDTF">2025-05-16T06:40:15Z</dcterms:modified>
</cp:coreProperties>
</file>